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6858000" cy="9144000"/>
  <p:embeddedFontLst>
    <p:embeddedFont>
      <p:font typeface="Roboto Mono Light"/>
      <p:regular r:id="rId18"/>
      <p:bold r:id="rId19"/>
      <p:italic r:id="rId20"/>
      <p:boldItalic r:id="rId21"/>
    </p:embeddedFont>
    <p:embeddedFont>
      <p:font typeface="Roboto Mono"/>
      <p:regular r:id="rId22"/>
      <p:bold r:id="rId23"/>
      <p:italic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Light-italic.fntdata"/><Relationship Id="rId22" Type="http://schemas.openxmlformats.org/officeDocument/2006/relationships/font" Target="fonts/RobotoMono-regular.fntdata"/><Relationship Id="rId21" Type="http://schemas.openxmlformats.org/officeDocument/2006/relationships/font" Target="fonts/RobotoMonoLight-boldItalic.fntdata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penSans-regular.fntdata"/><Relationship Id="rId25" Type="http://schemas.openxmlformats.org/officeDocument/2006/relationships/font" Target="fonts/RobotoMono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RobotoMonoLight-bold.fntdata"/><Relationship Id="rId18" Type="http://schemas.openxmlformats.org/officeDocument/2006/relationships/font" Target="fonts/RobotoMono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c2c375f8c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ec2c375f8c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c2c375f8c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ec2c375f8c_1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c2c375f8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ec2c375f8c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c2c375f8c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ec2c375f8c_1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c2c375f8c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ec2c375f8c_1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bfe967a3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ebfe967a32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bfe967a3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ebfe967a32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bfe967a3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ebfe967a32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2186800" y="917750"/>
            <a:ext cx="67587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3333"/>
              <a:buFont typeface="Calibri"/>
              <a:buNone/>
            </a:pPr>
            <a:r>
              <a:rPr lang="es-CL" sz="5400">
                <a:latin typeface="Roboto Mono Light"/>
                <a:ea typeface="Roboto Mono Light"/>
                <a:cs typeface="Roboto Mono Light"/>
                <a:sym typeface="Roboto Mono Light"/>
              </a:rPr>
              <a:t>Proyecto </a:t>
            </a:r>
            <a:r>
              <a:rPr lang="es-CL" sz="5400">
                <a:latin typeface="Roboto Mono Light"/>
                <a:ea typeface="Roboto Mono Light"/>
                <a:cs typeface="Roboto Mono Light"/>
                <a:sym typeface="Roboto Mono Light"/>
              </a:rPr>
              <a:t>SimoCO2</a:t>
            </a:r>
            <a:endParaRPr sz="5400"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2488019" y="3038628"/>
            <a:ext cx="61563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CL" sz="1500">
                <a:latin typeface="Roboto Mono Light"/>
                <a:ea typeface="Roboto Mono Light"/>
                <a:cs typeface="Roboto Mono Light"/>
                <a:sym typeface="Roboto Mono Light"/>
              </a:rPr>
              <a:t>Integrantes:</a:t>
            </a:r>
            <a:endParaRPr sz="15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Mono Light"/>
              <a:buChar char="-"/>
            </a:pPr>
            <a:r>
              <a:rPr lang="es-CL" sz="1500">
                <a:latin typeface="Roboto Mono Light"/>
                <a:ea typeface="Roboto Mono Light"/>
                <a:cs typeface="Roboto Mono Light"/>
                <a:sym typeface="Roboto Mono Light"/>
              </a:rPr>
              <a:t>Benjamin Alocilla</a:t>
            </a:r>
            <a:endParaRPr sz="15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Mono Light"/>
              <a:buChar char="-"/>
            </a:pPr>
            <a:r>
              <a:rPr lang="es-CL" sz="1500">
                <a:latin typeface="Roboto Mono Light"/>
                <a:ea typeface="Roboto Mono Light"/>
                <a:cs typeface="Roboto Mono Light"/>
                <a:sym typeface="Roboto Mono Light"/>
              </a:rPr>
              <a:t>Nicolas Borquez</a:t>
            </a:r>
            <a:endParaRPr sz="15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Mono Light"/>
              <a:buChar char="-"/>
            </a:pPr>
            <a:r>
              <a:rPr lang="es-CL" sz="1500">
                <a:latin typeface="Roboto Mono Light"/>
                <a:ea typeface="Roboto Mono Light"/>
                <a:cs typeface="Roboto Mono Light"/>
                <a:sym typeface="Roboto Mono Light"/>
              </a:rPr>
              <a:t>Matias Rain</a:t>
            </a:r>
            <a:endParaRPr sz="15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86" name="Google Shape;86;p13" title="simo co2 p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7425" y="2130875"/>
            <a:ext cx="4903676" cy="1599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2216888" y="273844"/>
            <a:ext cx="6298462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>
                <a:latin typeface="Roboto Mono Light"/>
                <a:ea typeface="Roboto Mono Light"/>
                <a:cs typeface="Roboto Mono Light"/>
                <a:sym typeface="Roboto Mono Light"/>
              </a:rPr>
              <a:t>Sobre </a:t>
            </a:r>
            <a:r>
              <a:rPr lang="es-CL">
                <a:latin typeface="Roboto Mono Light"/>
                <a:ea typeface="Roboto Mono Light"/>
                <a:cs typeface="Roboto Mono Light"/>
                <a:sym typeface="Roboto Mono Light"/>
              </a:rPr>
              <a:t>qué</a:t>
            </a:r>
            <a:r>
              <a:rPr lang="es-CL">
                <a:latin typeface="Roboto Mono Light"/>
                <a:ea typeface="Roboto Mono Light"/>
                <a:cs typeface="Roboto Mono Light"/>
                <a:sym typeface="Roboto Mono Light"/>
              </a:rPr>
              <a:t> trata nuestro proyecto:</a:t>
            </a:r>
            <a:endParaRPr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2216888" y="1369219"/>
            <a:ext cx="6298462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s-CL">
                <a:latin typeface="Roboto Mono"/>
                <a:ea typeface="Roboto Mono"/>
                <a:cs typeface="Roboto Mono"/>
                <a:sym typeface="Roboto Mono"/>
              </a:rPr>
              <a:t>Nuestro proyecto se trata de una plataforma web de monitoreo, que se encarga cuantificar y gestionar huellas de carbono en la industria, mediante </a:t>
            </a:r>
            <a:r>
              <a:rPr lang="es-CL">
                <a:latin typeface="Roboto Mono"/>
                <a:ea typeface="Roboto Mono"/>
                <a:cs typeface="Roboto Mono"/>
                <a:sym typeface="Roboto Mono"/>
              </a:rPr>
              <a:t>métricas</a:t>
            </a:r>
            <a:r>
              <a:rPr lang="es-CL">
                <a:latin typeface="Roboto Mono"/>
                <a:ea typeface="Roboto Mono"/>
                <a:cs typeface="Roboto Mono"/>
                <a:sym typeface="Roboto Mono"/>
              </a:rPr>
              <a:t> y </a:t>
            </a:r>
            <a:r>
              <a:rPr lang="es-CL">
                <a:latin typeface="Roboto Mono"/>
                <a:ea typeface="Roboto Mono"/>
                <a:cs typeface="Roboto Mono"/>
                <a:sym typeface="Roboto Mono"/>
              </a:rPr>
              <a:t>gráficos</a:t>
            </a:r>
            <a:r>
              <a:rPr lang="es-CL">
                <a:latin typeface="Roboto Mono"/>
                <a:ea typeface="Roboto Mono"/>
                <a:cs typeface="Roboto Mono"/>
                <a:sym typeface="Roboto Mono"/>
              </a:rPr>
              <a:t> para evaluar los procesos de manufactura en una empresa.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2216888" y="273844"/>
            <a:ext cx="6298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s-CL">
                <a:latin typeface="Open Sans"/>
                <a:ea typeface="Open Sans"/>
                <a:cs typeface="Open Sans"/>
                <a:sym typeface="Open Sans"/>
              </a:rPr>
              <a:t>Nuesto logo y tipografia</a:t>
            </a:r>
            <a:r>
              <a:rPr lang="es-CL"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5082313" y="1448394"/>
            <a:ext cx="6298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s-CL">
                <a:latin typeface="Open Sans"/>
                <a:ea typeface="Open Sans"/>
                <a:cs typeface="Open Sans"/>
                <a:sym typeface="Open Sans"/>
              </a:rPr>
              <a:t>Tipografía elegida fue: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s-CL">
                <a:latin typeface="Open Sans"/>
                <a:ea typeface="Open Sans"/>
                <a:cs typeface="Open Sans"/>
                <a:sym typeface="Open Sans"/>
              </a:rPr>
              <a:t>Open sans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9" name="Google Shape;99;p15" title="simo co2 p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894625" y="1448400"/>
            <a:ext cx="8831477" cy="2880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2216888" y="273844"/>
            <a:ext cx="6298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s-CL">
                <a:latin typeface="Open Sans"/>
                <a:ea typeface="Open Sans"/>
                <a:cs typeface="Open Sans"/>
                <a:sym typeface="Open Sans"/>
              </a:rPr>
              <a:t>Iconografia: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6900" y="1141150"/>
            <a:ext cx="4358100" cy="373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2216888" y="273844"/>
            <a:ext cx="6298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s-CL">
                <a:latin typeface="Roboto Mono Light"/>
                <a:ea typeface="Roboto Mono Light"/>
                <a:cs typeface="Roboto Mono Light"/>
                <a:sym typeface="Roboto Mono Light"/>
              </a:rPr>
              <a:t>Paleta de colores</a:t>
            </a:r>
            <a:r>
              <a:rPr lang="es-CL">
                <a:latin typeface="Roboto Mono Light"/>
                <a:ea typeface="Roboto Mono Light"/>
                <a:cs typeface="Roboto Mono Light"/>
                <a:sym typeface="Roboto Mono Light"/>
              </a:rPr>
              <a:t>:</a:t>
            </a:r>
            <a:endParaRPr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2216888" y="1369219"/>
            <a:ext cx="6298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7028" y="1369228"/>
            <a:ext cx="4749850" cy="302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2216888" y="273844"/>
            <a:ext cx="6298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s-CL">
                <a:latin typeface="Roboto Mono Light"/>
                <a:ea typeface="Roboto Mono Light"/>
                <a:cs typeface="Roboto Mono Light"/>
                <a:sym typeface="Roboto Mono Light"/>
              </a:rPr>
              <a:t>Diagrama de clases UML</a:t>
            </a:r>
            <a:r>
              <a:rPr lang="es-CL">
                <a:latin typeface="Roboto Mono Light"/>
                <a:ea typeface="Roboto Mono Light"/>
                <a:cs typeface="Roboto Mono Light"/>
                <a:sym typeface="Roboto Mono Light"/>
              </a:rPr>
              <a:t>:</a:t>
            </a:r>
            <a:endParaRPr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2216888" y="1369219"/>
            <a:ext cx="6298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2216888" y="273844"/>
            <a:ext cx="6298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s-CL">
                <a:latin typeface="Roboto Mono Light"/>
                <a:ea typeface="Roboto Mono Light"/>
                <a:cs typeface="Roboto Mono Light"/>
                <a:sym typeface="Roboto Mono Light"/>
              </a:rPr>
              <a:t>Diagrama de clases UML:</a:t>
            </a:r>
            <a:endParaRPr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2216888" y="1369219"/>
            <a:ext cx="6298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5350" y="101294"/>
            <a:ext cx="7368649" cy="4940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2216888" y="-6"/>
            <a:ext cx="6298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Calibri"/>
              <a:buNone/>
            </a:pPr>
            <a:r>
              <a:rPr lang="es-CL" sz="2770">
                <a:latin typeface="Roboto Mono"/>
                <a:ea typeface="Roboto Mono"/>
                <a:cs typeface="Roboto Mono"/>
                <a:sym typeface="Roboto Mono"/>
              </a:rPr>
              <a:t>Inicio de </a:t>
            </a:r>
            <a:r>
              <a:rPr lang="es-CL" sz="2770">
                <a:latin typeface="Roboto Mono"/>
                <a:ea typeface="Roboto Mono"/>
                <a:cs typeface="Roboto Mono"/>
                <a:sym typeface="Roboto Mono"/>
              </a:rPr>
              <a:t>sesión</a:t>
            </a:r>
            <a:r>
              <a:rPr lang="es-CL" sz="2770">
                <a:latin typeface="Roboto Mono"/>
                <a:ea typeface="Roboto Mono"/>
                <a:cs typeface="Roboto Mono"/>
                <a:sym typeface="Roboto Mono"/>
              </a:rPr>
              <a:t> de </a:t>
            </a:r>
            <a:endParaRPr sz="277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Calibri"/>
              <a:buNone/>
            </a:pPr>
            <a:r>
              <a:rPr lang="es-CL" sz="2770">
                <a:latin typeface="Roboto Mono"/>
                <a:ea typeface="Roboto Mono"/>
                <a:cs typeface="Roboto Mono"/>
                <a:sym typeface="Roboto Mono"/>
              </a:rPr>
              <a:t>Simo CO2:</a:t>
            </a:r>
            <a:endParaRPr sz="277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31" name="Google Shape;13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6901" y="1016060"/>
            <a:ext cx="6298499" cy="4127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2216888" y="-6"/>
            <a:ext cx="6298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s-CL">
                <a:latin typeface="Roboto Mono"/>
                <a:ea typeface="Roboto Mono"/>
                <a:cs typeface="Roboto Mono"/>
                <a:sym typeface="Roboto Mono"/>
              </a:rPr>
              <a:t>Dashboard de Simo CO2: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6901" y="1015735"/>
            <a:ext cx="6298501" cy="4127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2216888" y="273844"/>
            <a:ext cx="6298462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s-CL">
                <a:latin typeface="Roboto Mono"/>
                <a:ea typeface="Roboto Mono"/>
                <a:cs typeface="Roboto Mono"/>
                <a:sym typeface="Roboto Mono"/>
              </a:rPr>
              <a:t>Sobre el monitoreo: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2216888" y="1369219"/>
            <a:ext cx="6298462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Simo CO2 monitorea sensores de agua, electricidad y gas y genera </a:t>
            </a: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gráficos</a:t>
            </a: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 sobre el consumo de estos por semana.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También</a:t>
            </a: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 genera un informe en formato PDF con las </a:t>
            </a: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estadísticas</a:t>
            </a: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según</a:t>
            </a: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 la normativa seleccionada.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4" name="Google Shape;14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8200" y="3226538"/>
            <a:ext cx="4895850" cy="63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2488875" y="0"/>
            <a:ext cx="45780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s-CL">
                <a:latin typeface="Roboto Mono"/>
                <a:ea typeface="Roboto Mono"/>
                <a:cs typeface="Roboto Mono"/>
                <a:sym typeface="Roboto Mono"/>
              </a:rPr>
              <a:t>Sobre el informe: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2216888" y="1412719"/>
            <a:ext cx="6298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1" name="Google Shape;15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0127" y="622801"/>
            <a:ext cx="5495498" cy="453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2216888" y="273844"/>
            <a:ext cx="6298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s-CL">
                <a:latin typeface="Roboto Mono"/>
                <a:ea typeface="Roboto Mono"/>
                <a:cs typeface="Roboto Mono"/>
                <a:sym typeface="Roboto Mono"/>
              </a:rPr>
              <a:t>Sobre el informe: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7" name="Google Shape;157;p24"/>
          <p:cNvSpPr txBox="1"/>
          <p:nvPr>
            <p:ph idx="1" type="body"/>
          </p:nvPr>
        </p:nvSpPr>
        <p:spPr>
          <a:xfrm>
            <a:off x="2216888" y="1412719"/>
            <a:ext cx="6298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Simo CO2 genera el informe </a:t>
            </a: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según</a:t>
            </a: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 la normativa seleccionada y muestra las </a:t>
            </a: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estadísticas</a:t>
            </a: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 de consumo cada 12 semanas, es decir de forma trimestral.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2216888" y="273844"/>
            <a:ext cx="6298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2216888" y="1412719"/>
            <a:ext cx="6298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